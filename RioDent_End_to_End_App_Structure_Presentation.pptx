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1828800" cy="1828800"/>
          </a:xfrm>
          <a:prstGeom prst="ellipse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828800"/>
            <a:ext cx="1005840" cy="1005840"/>
          </a:xfrm>
          <a:prstGeom prst="ellipse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200400"/>
            <a:ext cx="640080" cy="640080"/>
          </a:xfrm>
          <a:prstGeom prst="ellipse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023360"/>
            <a:ext cx="1371600" cy="1371600"/>
          </a:xfrm>
          <a:prstGeom prst="ellipse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5029200"/>
            <a:ext cx="457200" cy="457200"/>
          </a:xfrm>
          <a:prstGeom prst="ellipse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0CEAF"/>
                </a:solidFill>
                <a:latin typeface="Aptos"/>
              </a:rPr>
              <a:t>PRODUCT PRESENTATION •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132320" cy="8229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ptos"/>
              </a:rPr>
              <a:t>RioDent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6766560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400" b="1" i="0">
                <a:solidFill>
                  <a:srgbClr val="E0F2FE"/>
                </a:solidFill>
                <a:latin typeface="Aptos"/>
              </a:rPr>
              <a:t>Dental Equipment Maintenance
&amp; Technician Dispatch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6217920" cy="8229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ptos"/>
              </a:rPr>
              <a:t>One connected workflow for clinics, field technicians, and operations administration.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554480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82896"/>
            <a:ext cx="148132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DOCTOR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846320"/>
            <a:ext cx="1783080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4882896"/>
            <a:ext cx="170992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ADMIN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846320"/>
            <a:ext cx="1737360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4882896"/>
            <a:ext cx="16642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FIREBASE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BED2E2"/>
                </a:solidFill>
                <a:latin typeface="Aptos"/>
              </a:rPr>
              <a:t>Based on supplied End-to-End Product Specification • Version 1.0.0+2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BED2E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RioDent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Product problem, solution, and operating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53896"/>
            <a:ext cx="54864" cy="175564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08760"/>
            <a:ext cx="32461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65376"/>
            <a:ext cx="3227832" cy="1325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202C39"/>
                </a:solidFill>
                <a:latin typeface="Aptos"/>
              </a:rPr>
              <a:t>• Equipment failures interrupt treatment and clinic revenue.
• Technician discovery can be fragmented.
• Maintenance records may be paper-based.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53896"/>
            <a:ext cx="54864" cy="17556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08760"/>
            <a:ext cx="32461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65376"/>
            <a:ext cx="3227832" cy="1325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202C39"/>
                </a:solidFill>
                <a:latin typeface="Aptos"/>
              </a:rPr>
              <a:t>• Digital service requests and category selection.
• Central dispatch and technician assignment.
• Shared status, completion, and service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53896"/>
            <a:ext cx="54864" cy="175564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508760"/>
            <a:ext cx="32461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Operating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865376"/>
            <a:ext cx="3227832" cy="1325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202C39"/>
                </a:solidFill>
                <a:latin typeface="Aptos"/>
              </a:rPr>
              <a:t>• Doctor booking portal.
• Admin dispatch and roster control.
• Firebase-backed data and notifications.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877056"/>
            <a:ext cx="54864" cy="120700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3192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288536"/>
            <a:ext cx="2313432" cy="7772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Create service ticket and choose a slot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8" y="384048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38728" y="3877056"/>
            <a:ext cx="54864" cy="120700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6" y="393192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288536"/>
            <a:ext cx="2313432" cy="7772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Assign suitable technician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91656" y="384048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91656" y="3877056"/>
            <a:ext cx="54864" cy="1207007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93192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288536"/>
            <a:ext cx="2313432" cy="7772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Share live ticket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44584" y="384048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4584" y="3877056"/>
            <a:ext cx="54864" cy="1207007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393192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4288536"/>
            <a:ext cx="2313432" cy="7772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Record completion and amount paid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Entire application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Role-based screens and shared services from the supplied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APP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640080"/>
          </a:xfrm>
          <a:prstGeom prst="roundRect">
            <a:avLst/>
          </a:prstGeom>
          <a:solidFill>
            <a:srgbClr val="E0F2FE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444752"/>
            <a:ext cx="32369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RioDent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728216"/>
            <a:ext cx="3200400" cy="24688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Splash • Authentication • Session restore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3657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2633472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Doctor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16936"/>
            <a:ext cx="3474720" cy="3840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Home • Book Technician • My Requests •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560320"/>
            <a:ext cx="3108960" cy="777240"/>
          </a:xfrm>
          <a:prstGeom prst="roundRect">
            <a:avLst/>
          </a:prstGeom>
          <a:solidFill>
            <a:srgbClr val="E0FAF5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633472"/>
            <a:ext cx="29626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Shared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16936"/>
            <a:ext cx="2926079" cy="3840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Auth • Routing • State •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560320"/>
            <a:ext cx="3657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2633472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916936"/>
            <a:ext cx="3474720" cy="38404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Dashboard • Dispatch • Directory • Roster • Settings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468880" y="2011680"/>
            <a:ext cx="361188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011680"/>
            <a:ext cx="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2011680"/>
            <a:ext cx="352044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3977639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4050791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Doctor screens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334255"/>
            <a:ext cx="3474720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Login / registration • Home • Booking wizard
Review • Confirmation • Request details •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977639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4050791"/>
            <a:ext cx="29626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Firebase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334255"/>
            <a:ext cx="292607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Firebase Auth • Cloud Firestore
FCM • Privacy-policy hosting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977639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2" y="4050791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Admin 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334255"/>
            <a:ext cx="3474720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KPI dashboard • Assignment • Doctor directory
Technician roster • Category &amp; lead-time settings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68880" y="3337560"/>
            <a:ext cx="0" cy="640079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80760" y="3337560"/>
            <a:ext cx="0" cy="640079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01200" y="3337560"/>
            <a:ext cx="0" cy="640079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1">
                <a:solidFill>
                  <a:srgbClr val="5E6F80"/>
                </a:solidFill>
                <a:latin typeface="Aptos"/>
              </a:rPr>
              <a:t>Technician workflow is part of the end-to-end lifecycle; the source gives fewer details about a separate Technician screen catalog.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Frontend, application services, and Firebase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004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205295"/>
                </a:solidFill>
                <a:latin typeface="Apto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417320"/>
            <a:ext cx="32004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205295"/>
                </a:solidFill>
                <a:latin typeface="Aptos"/>
              </a:rPr>
              <a:t>APP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32004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205295"/>
                </a:solidFill>
                <a:latin typeface="Aptos"/>
              </a:rPr>
              <a:t>FIREBASE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1856231"/>
            <a:ext cx="30998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Doctor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139696"/>
            <a:ext cx="3063239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Flutter • Android /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3044952"/>
            <a:ext cx="30998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Admin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328416"/>
            <a:ext cx="3063239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Adaptive UI • Web /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783080"/>
            <a:ext cx="3246120" cy="868680"/>
          </a:xfrm>
          <a:prstGeom prst="roundRect">
            <a:avLst/>
          </a:prstGeom>
          <a:solidFill>
            <a:srgbClr val="E0FAF5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856231"/>
            <a:ext cx="30998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Riverpod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39696"/>
            <a:ext cx="3063239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Reactive providers / streams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97180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3044952"/>
            <a:ext cx="30998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GoRouter + FCM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28416"/>
            <a:ext cx="3063239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Role guards • Deep links • Push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645920"/>
            <a:ext cx="3429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1719072"/>
            <a:ext cx="32826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Firebase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002536"/>
            <a:ext cx="3246120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Email/password • Google Sign-In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606040"/>
            <a:ext cx="3429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2679192"/>
            <a:ext cx="32826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Cloud Firestore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962656"/>
            <a:ext cx="3246120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Profiles • Requests • Categories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66160"/>
            <a:ext cx="3429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3639312"/>
            <a:ext cx="32826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Cloud Messaging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922776"/>
            <a:ext cx="3246120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Dispatch alerts • Notification routing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86200" y="2194560"/>
            <a:ext cx="365760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86200" y="3383280"/>
            <a:ext cx="365760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498079" y="2011680"/>
            <a:ext cx="548641" cy="18288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98079" y="2194560"/>
            <a:ext cx="548641" cy="7772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79" y="3383280"/>
            <a:ext cx="548641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1520" y="5074920"/>
            <a:ext cx="1965960" cy="310896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111496"/>
            <a:ext cx="18928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205295"/>
                </a:solidFill>
                <a:latin typeface="Aptos"/>
              </a:rPr>
              <a:t>Flutter / Dart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5074920"/>
            <a:ext cx="1965960" cy="310896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5111496"/>
            <a:ext cx="18928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205295"/>
                </a:solidFill>
                <a:latin typeface="Aptos"/>
              </a:rPr>
              <a:t>Riverpod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5074920"/>
            <a:ext cx="1965960" cy="310896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48656" y="5111496"/>
            <a:ext cx="18928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205295"/>
                </a:solidFill>
                <a:latin typeface="Aptos"/>
              </a:rPr>
              <a:t>GoRouter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5074920"/>
            <a:ext cx="1965960" cy="310896"/>
          </a:xfrm>
          <a:prstGeom prst="round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88936" y="5111496"/>
            <a:ext cx="18928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205295"/>
                </a:solidFill>
                <a:latin typeface="Aptos"/>
              </a:rPr>
              <a:t>Firebase Spark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5074920"/>
            <a:ext cx="1965960" cy="310896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29216" y="5111496"/>
            <a:ext cx="1892807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205295"/>
                </a:solidFill>
                <a:latin typeface="Aptos"/>
              </a:rPr>
              <a:t>asia-south1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1">
                <a:solidFill>
                  <a:srgbClr val="5E6F80"/>
                </a:solidFill>
                <a:latin typeface="Aptos"/>
              </a:rPr>
              <a:t>Stack and deployment details are reproduced from the source specification and should be verified against the current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Authentication and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One login entry point, role-specific navigation, protected backend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640080"/>
          </a:xfrm>
          <a:prstGeom prst="roundRect">
            <a:avLst/>
          </a:prstGeom>
          <a:solidFill>
            <a:srgbClr val="E0F2FE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490472"/>
            <a:ext cx="32369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Login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773936"/>
            <a:ext cx="3200400" cy="24688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Email/password • Google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383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542032"/>
            <a:ext cx="32369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825496"/>
            <a:ext cx="3200400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Credentials and session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3657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76472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59935"/>
            <a:ext cx="3474720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Clinic portal • Booking and service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703320"/>
            <a:ext cx="3108960" cy="868680"/>
          </a:xfrm>
          <a:prstGeom prst="roundRect">
            <a:avLst/>
          </a:prstGeom>
          <a:solidFill>
            <a:srgbClr val="E0FAF5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776472"/>
            <a:ext cx="29626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9935"/>
            <a:ext cx="2926079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Role / ownership checks in Firestore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703320"/>
            <a:ext cx="3657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3776472"/>
            <a:ext cx="351129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059935"/>
            <a:ext cx="3474720" cy="47548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Operations • Dispatch • Settings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057400"/>
            <a:ext cx="0" cy="41148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514600" y="3154680"/>
            <a:ext cx="356616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154680"/>
            <a:ext cx="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3154680"/>
            <a:ext cx="3520440" cy="54864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4983480"/>
            <a:ext cx="10515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020056"/>
            <a:ext cx="54864" cy="70408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74920"/>
            <a:ext cx="102412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Security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431536"/>
            <a:ext cx="10222992" cy="27431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Hiding an Admin button is not sufficient. Administrative reads and writes must be authorized by backend rules. Verify the designated Admin identity against the actual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Doctor portal — screen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From sign-in to service history and account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DOCTOR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89888"/>
            <a:ext cx="54864" cy="950976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01  Splash &amp;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01368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Session restore • Email/password • Google • Forgot password • Create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5331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89888"/>
            <a:ext cx="54864" cy="950976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444752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02  Doctor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801368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Book Technician • Category cards • Active requests • Emergency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96896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33472"/>
            <a:ext cx="54864" cy="950976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688336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03  Booking Wizard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044952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Category • Problem • Address/location • Date/time •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96896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633472"/>
            <a:ext cx="54864" cy="950976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688336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04  Review &amp;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044952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Cost summary • Slot/address • Terms checkbox • Submit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40480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877056"/>
            <a:ext cx="54864" cy="950976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93192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05  Request Submitted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288536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Reference ID • Track status • Back to Home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0480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877056"/>
            <a:ext cx="54864" cy="950976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93192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06  Request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88536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Timeline • Technician • Call • Edit/cancel • Payment/close • Rating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84064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120640"/>
            <a:ext cx="54864" cy="950976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175504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07  Profile &amp;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5532120"/>
            <a:ext cx="5056631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69" b="0" i="0">
                <a:solidFill>
                  <a:srgbClr val="202C39"/>
                </a:solidFill>
                <a:latin typeface="Aptos"/>
              </a:rPr>
              <a:t>Clinic details • Theme • Privacy • Terms • Sign out • Delete account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1">
                <a:solidFill>
                  <a:srgbClr val="5E6F80"/>
                </a:solidFill>
                <a:latin typeface="Aptos"/>
              </a:rPr>
              <a:t>Bottom navigation: Home • My Requests • Profile. Verify exact routes and behavior in the running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Doctor booking — end-to-end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Booking wizard, review, submission, and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DOCTOR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1 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Category
Problem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395728"/>
            <a:ext cx="246888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2  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Address
GPS/manual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7" y="2395728"/>
            <a:ext cx="246889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9976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3 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Date • Slot
IST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71616" y="2395728"/>
            <a:ext cx="246888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4 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Cost • Address
Terms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10144" y="2395728"/>
            <a:ext cx="246888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2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5 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Create ticket
Audit event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48672" y="2395728"/>
            <a:ext cx="246888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560" y="182880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8712" y="1901952"/>
            <a:ext cx="154533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6 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185416"/>
            <a:ext cx="1508760" cy="7498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Reference ID
Live timeline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6576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694176"/>
            <a:ext cx="54864" cy="116128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74903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105656"/>
            <a:ext cx="3182112" cy="7315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Description 1–500 chars • Required address • Valid date/time • 10-digit phone where required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6576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3694176"/>
            <a:ext cx="54864" cy="116128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74903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Submission safety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4105656"/>
            <a:ext cx="3182112" cy="7315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Disable while saving • Prevent duplicate writes • Show errors if save fails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36576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79" y="3694176"/>
            <a:ext cx="54864" cy="116128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0727" y="374903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Expected 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4105656"/>
            <a:ext cx="3182112" cy="7315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Ticket appears for Doctor and Admin; assignment later updates the status.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1">
                <a:solidFill>
                  <a:srgbClr val="5E6F80"/>
                </a:solidFill>
                <a:latin typeface="Aptos"/>
              </a:rPr>
              <a:t>The source describes free diagnostic booking with parts and labor quoted on-site; confirm this remains the approved commercial policy.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Ticket lifecycle and status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Status must stay consistent across Doctor, Technician, Admin, and Firestore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Request created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79" y="2240280"/>
            <a:ext cx="576073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2152" y="17830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856231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13969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Technician selected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33872" y="2240280"/>
            <a:ext cx="5760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9944" y="17830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856231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IN_PROGRESS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13969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Work underway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1664" y="2240280"/>
            <a:ext cx="5760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17736" y="178308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856231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13969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Doctor confirms closure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3108960" cy="685800"/>
          </a:xfrm>
          <a:prstGeom prst="roundRect">
            <a:avLst/>
          </a:prstGeom>
          <a:solidFill>
            <a:srgbClr val="E0FAF5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547872"/>
            <a:ext cx="29626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CANCELLED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31335"/>
            <a:ext cx="2926079" cy="2926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Alternative terminal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2697480"/>
            <a:ext cx="3017520" cy="777240"/>
          </a:xfrm>
          <a:prstGeom prst="line">
            <a:avLst/>
          </a:prstGeom>
          <a:ln w="19050">
            <a:solidFill>
              <a:srgbClr val="BE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2697480"/>
            <a:ext cx="914400" cy="777240"/>
          </a:xfrm>
          <a:prstGeom prst="line">
            <a:avLst/>
          </a:prstGeom>
          <a:ln w="19050">
            <a:solidFill>
              <a:srgbClr val="BE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4617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654296"/>
            <a:ext cx="54864" cy="8412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70915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Transition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065776"/>
            <a:ext cx="3182112" cy="41147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Who can change status and from which prior state?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17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54296"/>
            <a:ext cx="54864" cy="84124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70915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Audit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065776"/>
            <a:ext cx="3182112" cy="41147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Actor, timestamp, action, and reason where applicable.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4617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4654296"/>
            <a:ext cx="54864" cy="84124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709159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Cross-role 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5065776"/>
            <a:ext cx="3182112" cy="41147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Real-time views and persisted state after restart.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Dispatch and technician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Admin coordinates queue, assignment, roster, and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73352"/>
            <a:ext cx="18653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New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56816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Queue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075688"/>
            <a:ext cx="3474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70632" y="1600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673352"/>
            <a:ext cx="18653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Review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1956816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Clinic • category
slot • address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075688"/>
            <a:ext cx="3474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1600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673352"/>
            <a:ext cx="18653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Choose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1956816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Active • qualified
area fit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41464" y="2075688"/>
            <a:ext cx="3474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8936" y="1600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1673352"/>
            <a:ext cx="18653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1956816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Status + tech 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0616" y="2075688"/>
            <a:ext cx="3474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48088" y="1600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673352"/>
            <a:ext cx="186537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1956816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FCM / UI 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282696"/>
            <a:ext cx="54864" cy="134416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3375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Technician roster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3694176"/>
            <a:ext cx="3182112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• Add contact and specialization.
• Manage active status.
• Prevent inactive assignment.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282696"/>
            <a:ext cx="54864" cy="134416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3375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Dispatch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3694176"/>
            <a:ext cx="3182112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• Prevent double assignment.
• Support reassignment where implemented.
• Log changes in event history.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3282696"/>
            <a:ext cx="54864" cy="134416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33375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Admin 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3694176"/>
            <a:ext cx="3182112" cy="9144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• Search Doctor directory.
• Manage equipment categories.
• Configure minimum lead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1">
                <a:solidFill>
                  <a:srgbClr val="5E6F80"/>
                </a:solidFill>
                <a:latin typeface="Aptos"/>
              </a:rPr>
              <a:t>Confirm the existence and detail of Technician-specific screens in the current code; the source is more detailed for Doctor and Admin.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Admin operations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Operational visibility into requests, technicians, doctors, and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53896"/>
            <a:ext cx="54864" cy="102412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2313432" cy="59435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Sum amountPaid on eligible COMPLETED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53896"/>
            <a:ext cx="54864" cy="102412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Active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65376"/>
            <a:ext cx="2313432" cy="59435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NEW + ASSIGNED + IN_PROGRESS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1732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453896"/>
            <a:ext cx="54864" cy="1024127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Available technicians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865376"/>
            <a:ext cx="2313432" cy="59435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isActive =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1732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453896"/>
            <a:ext cx="54864" cy="1024127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50" b="1" i="0">
                <a:solidFill>
                  <a:srgbClr val="0A2647"/>
                </a:solidFill>
                <a:latin typeface="Aptos"/>
              </a:rPr>
              <a:t>Registered doctors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865376"/>
            <a:ext cx="2313432" cy="59435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Clinic / Doctor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718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008376"/>
            <a:ext cx="54864" cy="180136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063240"/>
            <a:ext cx="493776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 i="0">
                <a:solidFill>
                  <a:srgbClr val="0A2647"/>
                </a:solidFill>
                <a:latin typeface="Aptos"/>
              </a:rPr>
              <a:t>Request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419856"/>
            <a:ext cx="4919472" cy="137159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Latest submitted first (descending timestamp).
• Filters: ALL, NEW, ASSIGNED, IN_PROGRESS, COMPLETED, CANCELLED.
• Show clinic, category, slot, technician, and status.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718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008376"/>
            <a:ext cx="54864" cy="180136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063240"/>
            <a:ext cx="493776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400" b="1" i="0">
                <a:solidFill>
                  <a:srgbClr val="0A2647"/>
                </a:solidFill>
                <a:latin typeface="Aptos"/>
              </a:rPr>
              <a:t>Operational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419856"/>
            <a:ext cx="4919472" cy="137159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KPIs match underlying Firestore records.
• Counts update without stale values.
• Loading, empty, error, and retry states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Completion, revenue, and RioDent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Financial logic must be explicit, validated, and protected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Repair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Doctor confirms 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79" y="2057400"/>
            <a:ext cx="576073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2152" y="16002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673352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Enter amount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5681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₹ value •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33872" y="2057400"/>
            <a:ext cx="5760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9944" y="16002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673352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Persist 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195681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status + amountPaid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1664" y="2057400"/>
            <a:ext cx="576072" cy="0"/>
          </a:xfrm>
          <a:prstGeom prst="line">
            <a:avLst/>
          </a:prstGeom>
          <a:ln w="19050">
            <a:solidFill>
              <a:srgbClr val="14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17736" y="16002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673352"/>
            <a:ext cx="2185415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Admin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1956816"/>
            <a:ext cx="2148839" cy="52120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Recalculate eligible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236976"/>
            <a:ext cx="54864" cy="12984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29184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64845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Allow zero only if policy permits; reject negative/over-limit values; test decimals and leading zeros.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236976"/>
            <a:ext cx="54864" cy="129844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29184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Revenue correctness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64845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Count eligible completed tickets; prevent double counting; reconcile totals to source records.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3236976"/>
            <a:ext cx="54864" cy="129844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29184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RioDent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64845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Confirm commission formula, rounding, refunds, and adjustments. Do not invent a rate.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BE3741"/>
                </a:solidFill>
                <a:latin typeface="Aptos"/>
              </a:rPr>
              <a:t>Source-derived: total revenue is described as the sum of amountPaid for COMPLETED tickets. A RioDent share percentage/formula is not defined in the supplied spec.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Backend data and synchronization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Logical entities and the integrity checks around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54864" cy="585216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17320"/>
            <a:ext cx="443484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1" i="0">
                <a:solidFill>
                  <a:srgbClr val="0A2647"/>
                </a:solidFill>
                <a:latin typeface="Aptos"/>
              </a:rPr>
              <a:t>User / Doctor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73936"/>
            <a:ext cx="4416552" cy="15544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202C39"/>
                </a:solidFill>
                <a:latin typeface="Aptos"/>
              </a:rPr>
              <a:t>Identity • role • clinic profile • phone •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30552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67128"/>
            <a:ext cx="54864" cy="585216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221992"/>
            <a:ext cx="443484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1" i="0">
                <a:solidFill>
                  <a:srgbClr val="0A2647"/>
                </a:solidFill>
                <a:latin typeface="Aptos"/>
              </a:rPr>
              <a:t>Technician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578608"/>
            <a:ext cx="4416552" cy="15544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202C39"/>
                </a:solidFill>
                <a:latin typeface="Aptos"/>
              </a:rPr>
              <a:t>Name • phone • specialization • area • isActive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35224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971800"/>
            <a:ext cx="54864" cy="585216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026664"/>
            <a:ext cx="443484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1" i="0">
                <a:solidFill>
                  <a:srgbClr val="0A2647"/>
                </a:solidFill>
                <a:latin typeface="Aptos"/>
              </a:rPr>
              <a:t>Technician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83280"/>
            <a:ext cx="4416552" cy="15544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202C39"/>
                </a:solidFill>
                <a:latin typeface="Aptos"/>
              </a:rPr>
              <a:t>doctorId • techId • category • slot • address • status • amountPaid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39896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76472"/>
            <a:ext cx="54864" cy="585216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831335"/>
            <a:ext cx="443484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1" i="0">
                <a:solidFill>
                  <a:srgbClr val="0A2647"/>
                </a:solidFill>
                <a:latin typeface="Aptos"/>
              </a:rPr>
              <a:t>Category /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187952"/>
            <a:ext cx="4416552" cy="15544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202C39"/>
                </a:solidFill>
                <a:latin typeface="Aptos"/>
              </a:rPr>
              <a:t>Code • label • icon • base fee • minimum lead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44568"/>
            <a:ext cx="4709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81144"/>
            <a:ext cx="54864" cy="585216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636007"/>
            <a:ext cx="443484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1" i="0">
                <a:solidFill>
                  <a:srgbClr val="0A2647"/>
                </a:solidFill>
                <a:latin typeface="Aptos"/>
              </a:rPr>
              <a:t>Events /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992624"/>
            <a:ext cx="4416552" cy="155447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202C39"/>
                </a:solidFill>
                <a:latin typeface="Aptos"/>
              </a:rPr>
              <a:t>Actor • action • timestamp • reason /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1417320"/>
            <a:ext cx="521208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Consistency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828800"/>
            <a:ext cx="5212080" cy="29718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0" i="0">
                <a:solidFill>
                  <a:srgbClr val="202C39"/>
                </a:solidFill>
                <a:latin typeface="Aptos"/>
              </a:rPr>
              <a:t>• Correct Firebase project and collection paths
• Valid document IDs and ownership references
• Status, timestamps, and assigned technician agree
• Audit events match actual state changes
• Queries align with composite indexes
• Rules enforce role and ownership authorization
• Retry/offline behavior does not duplicate writes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5120640"/>
            <a:ext cx="2377440" cy="320040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25896" y="5166360"/>
            <a:ext cx="2304288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50" b="1" i="0">
                <a:solidFill>
                  <a:srgbClr val="205295"/>
                </a:solidFill>
                <a:latin typeface="Aptos"/>
              </a:rPr>
              <a:t>DEV: equip-services-dev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5120640"/>
            <a:ext cx="2377440" cy="320040"/>
          </a:xfrm>
          <a:prstGeom prst="round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5166360"/>
            <a:ext cx="2304288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850" b="1" i="0">
                <a:solidFill>
                  <a:srgbClr val="205295"/>
                </a:solidFill>
                <a:latin typeface="Aptos"/>
              </a:rPr>
              <a:t>PROD: riodent-prod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QA coverage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Positive, negative, security, UI, and reliability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07592"/>
            <a:ext cx="108356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624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Authentication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3624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Login/reset, role isolation, session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64792"/>
            <a:ext cx="1083564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196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Doctor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96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Category, address, schedule, submit, duplicate prevention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21991"/>
            <a:ext cx="108356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768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Ticket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2768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Assign, edit, cancel, complete, invalid transitions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79191"/>
            <a:ext cx="1083564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340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Technician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7340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Assignment visibility, status changes, deactivation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36391"/>
            <a:ext cx="108356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912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Admin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1912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Roster, directory, categories, queue, ticket closure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93591"/>
            <a:ext cx="1083564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48456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Financials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648456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Amount validation, revenue aggregation, RioDent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50791"/>
            <a:ext cx="108356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05655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Backend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105655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Rules, ownership, indexes, data integrity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07992"/>
            <a:ext cx="1083564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62855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UI &amp; navigation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562855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Buttons, layout, theme, back, keyboard, error states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65192"/>
            <a:ext cx="108356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020055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020055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Startup, latency, memory, offline, concurrency, crash/ANR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422392"/>
            <a:ext cx="1083564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77255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0A2647"/>
                </a:solidFill>
                <a:latin typeface="Aptos"/>
              </a:rPr>
              <a:t>Privacy &amp; 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477255"/>
            <a:ext cx="804672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Delete account, permissions, config, signing, release 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Representative positive and negative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Examples from the supplied test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54864" cy="768096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1732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AUTH-POS-01 • Valid Doctor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7393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Correct role home opens.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62456"/>
            <a:ext cx="54864" cy="768096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41732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AUTH-NEG-01 • Wrong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7393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Error shown; no authenticated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77439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414015"/>
            <a:ext cx="54864" cy="768096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468879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BKG-POS-01 • Valid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82549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One NEW ticket persists and appears for Admin.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377439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414015"/>
            <a:ext cx="54864" cy="768096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468879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BKG-NEG-03 • Double-tap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82549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Exactly one booking is created.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29000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465576"/>
            <a:ext cx="54864" cy="768096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52044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LFC-NEG-01 • Cancel IN_PROGRESS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87705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Cancellation blocked by policy/backend.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29000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65576"/>
            <a:ext cx="54864" cy="768096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520440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PAY-POS-01 • Enter ₹1,000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87705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Input displays 1000 correctly.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480559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517136"/>
            <a:ext cx="54864" cy="768096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571999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ADM-NEG-01 • 9-digit phone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92861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Form rejects invalid number.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480559"/>
            <a:ext cx="53492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517136"/>
            <a:ext cx="54864" cy="768096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571999"/>
            <a:ext cx="50749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0A2647"/>
                </a:solidFill>
                <a:latin typeface="Aptos"/>
              </a:rPr>
              <a:t>SYNC-POS-01 • Admin assigns 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928616"/>
            <a:ext cx="5056631" cy="33832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30" b="0" i="0">
                <a:solidFill>
                  <a:srgbClr val="202C39"/>
                </a:solidFill>
                <a:latin typeface="Aptos"/>
              </a:rPr>
              <a:t>Other role views reflect assignment.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1" i="0">
                <a:solidFill>
                  <a:srgbClr val="BE3741"/>
                </a:solidFill>
                <a:latin typeface="Aptos"/>
              </a:rPr>
              <a:t>The source document labels its examples PASS; this deck does not independently rerun or validate those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UI consistency, navigation, and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Verify every visible control and every important screen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UI /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53896"/>
            <a:ext cx="54864" cy="157276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Visual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3182112" cy="11430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Spacing, alignment, typography, colors.
• No clipping, overflow, or overlap.
• Responsive layouts and keyboard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53896"/>
            <a:ext cx="54864" cy="157276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Navigation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65376"/>
            <a:ext cx="3182112" cy="11430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Android Back and app-bar Back.
• Correct home after booking/cancel/complete.
• No protected screen after logout.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53896"/>
            <a:ext cx="54864" cy="157276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Profile and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865376"/>
            <a:ext cx="3182112" cy="11430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Theme preference persistence.
• Privacy / terms links and disclosures.
• Account deletion and cached-data cleanup.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Button inventory should include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10241280" cy="10515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0" i="0">
                <a:solidFill>
                  <a:srgbClr val="202C39"/>
                </a:solidFill>
                <a:latin typeface="Aptos"/>
              </a:rPr>
              <a:t>Every CTA • icon button • tab • menu • clickable card • filter • form control • dialog action • notification deep link. Verify enabled/disabled states, success/error feedback, duplicate-tap behavior, and role permissions.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1">
                <a:solidFill>
                  <a:srgbClr val="5E6F80"/>
                </a:solidFill>
                <a:latin typeface="Aptos"/>
              </a:rPr>
              <a:t>Preserve the established RioDent design; fix verified defects rather than redesigning screens without approval.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Performance, reliability, and load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Measure real behavior under realistic and controlled stress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53896"/>
            <a:ext cx="54864" cy="161848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Cold/warm launch and repeated navigation.
• Low memory and long sessions.
• Crash, ANR, and rendering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53896"/>
            <a:ext cx="54864" cy="161848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Network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65376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Offline and reconnect.
• Slow/interrupted requests.
• Permission denial, timeout, and retry.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53896"/>
            <a:ext cx="54864" cy="161848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865376"/>
            <a:ext cx="3182112" cy="11887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Simultaneous booking/status changes.
• Multiple dashboard refreshes.
• Quota-aware controlled 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Measure and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14215"/>
            <a:ext cx="54864" cy="97840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069079"/>
            <a:ext cx="22860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Startup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425696"/>
            <a:ext cx="226771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Cold / warm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4014215"/>
            <a:ext cx="54864" cy="97840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8" y="4069079"/>
            <a:ext cx="22860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425696"/>
            <a:ext cx="226771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Login, search, booking,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014215"/>
            <a:ext cx="54864" cy="978407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4069079"/>
            <a:ext cx="22860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425696"/>
            <a:ext cx="226771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Memory, CPU, battery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4014215"/>
            <a:ext cx="54864" cy="978407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4069079"/>
            <a:ext cx="22860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Reliability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425696"/>
            <a:ext cx="226771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50" b="0" i="0">
                <a:solidFill>
                  <a:srgbClr val="202C39"/>
                </a:solidFill>
                <a:latin typeface="Aptos"/>
              </a:rPr>
              <a:t>Crashes, ANRs, failed requests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1" i="0">
                <a:solidFill>
                  <a:srgbClr val="BE3741"/>
                </a:solidFill>
                <a:latin typeface="Aptos"/>
              </a:rPr>
              <a:t>Run destructive and heavy load tests in DEV or a dedicated test environment; use controlled smoke tests in PROD.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Security, privacy, and account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Backend authorization is the control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53896"/>
            <a:ext cx="54864" cy="143560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3182112" cy="10058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Token/session behavior • role guards • no protected screen after logout.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53896"/>
            <a:ext cx="54864" cy="1435607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Firestore 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65376"/>
            <a:ext cx="3182112" cy="10058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Ownership • no self-assigned Admin • protected status and financial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53896"/>
            <a:ext cx="54864" cy="143560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50876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Privacy &amp; deletion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865376"/>
            <a:ext cx="3182112" cy="10058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Disclosures • least permissions • reauthentication • retention policy.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500" b="1" i="0">
                <a:solidFill>
                  <a:srgbClr val="0A2647"/>
                </a:solidFill>
                <a:latin typeface="Aptos"/>
              </a:rPr>
              <a:t>Release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10332720" cy="12801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50" b="0" i="0">
                <a:solidFill>
                  <a:srgbClr val="202C39"/>
                </a:solidFill>
                <a:latin typeface="Aptos"/>
              </a:rPr>
              <a:t>• Verify privacy-policy URL and production hosting.
• Inspect Android permissions and notification/location behavior.
• Never expose credentials, tokens, signing keys, or private user data in logs.
• Use test accounts for destructive deletion checks; do not purge real production records.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Environment separation and release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Keep configuration, users, and data isolated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4937760" cy="1051560"/>
          </a:xfrm>
          <a:prstGeom prst="roundRect">
            <a:avLst/>
          </a:prstGeom>
          <a:solidFill>
            <a:srgbClr val="EBF4FD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81912"/>
            <a:ext cx="47914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DEV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65376"/>
            <a:ext cx="4754880" cy="6583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equip-services-dev
Development • regression • destructive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4937760" cy="1051560"/>
          </a:xfrm>
          <a:prstGeom prst="roundRect">
            <a:avLst/>
          </a:prstGeom>
          <a:solidFill>
            <a:srgbClr val="E0FAF5"/>
          </a:solidFill>
          <a:ln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81912"/>
            <a:ext cx="4791456" cy="25603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1200" b="1" i="0">
                <a:solidFill>
                  <a:srgbClr val="0A2647"/>
                </a:solidFill>
                <a:latin typeface="Aptos"/>
              </a:rPr>
              <a:t>PROD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65376"/>
            <a:ext cx="4754880" cy="6583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0" i="0">
                <a:solidFill>
                  <a:srgbClr val="5E6F80"/>
                </a:solidFill>
                <a:latin typeface="Aptos"/>
              </a:rPr>
              <a:t>riodent-prod
Production configuration • controlled smoke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82880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2200" b="1" i="0">
                <a:solidFill>
                  <a:srgbClr val="BE3741"/>
                </a:solidFill>
                <a:latin typeface="Aptos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91256"/>
            <a:ext cx="54864" cy="12984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24612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Build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0273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80" b="0" i="0">
                <a:solidFill>
                  <a:srgbClr val="202C39"/>
                </a:solidFill>
                <a:latin typeface="Aptos"/>
              </a:rPr>
              <a:t>Correct package ID, Firebase config, signing, and release mode.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546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191256"/>
            <a:ext cx="54864" cy="129844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324612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Data separation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60273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80" b="0" i="0">
                <a:solidFill>
                  <a:srgbClr val="202C39"/>
                </a:solidFill>
                <a:latin typeface="Aptos"/>
              </a:rPr>
              <a:t>Do not copy DEV users or bookings into PROD by default.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1546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191256"/>
            <a:ext cx="54864" cy="1298448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7" y="3246120"/>
            <a:ext cx="320040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200" b="1" i="0">
                <a:solidFill>
                  <a:srgbClr val="0A2647"/>
                </a:solidFill>
                <a:latin typeface="Aptos"/>
              </a:rPr>
              <a:t>Approval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602736"/>
            <a:ext cx="318211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80" b="0" i="0">
                <a:solidFill>
                  <a:srgbClr val="202C39"/>
                </a:solidFill>
                <a:latin typeface="Aptos"/>
              </a:rPr>
              <a:t>No billing change, destructive production action, or Play publishing without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80" b="0" i="1">
                <a:solidFill>
                  <a:srgbClr val="5E6F80"/>
                </a:solidFill>
                <a:latin typeface="Aptos"/>
              </a:rPr>
              <a:t>The source states that a production AAB and signing details exist. Verify current artifacts, project IDs, signing ownership, and release status directly before presenting them as confirmed.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QA reporting and release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Every result needs evidence and an explicit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606040" cy="1051560"/>
          </a:xfrm>
          <a:prstGeom prst="roundRect">
            <a:avLst/>
          </a:prstGeom>
          <a:solidFill>
            <a:srgbClr val="E0FAF5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53896"/>
            <a:ext cx="54864" cy="978407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231343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19" b="0" i="0">
                <a:solidFill>
                  <a:srgbClr val="202C39"/>
                </a:solidFill>
                <a:latin typeface="Aptos"/>
              </a:rPr>
              <a:t>Executed; expected result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417320"/>
            <a:ext cx="2606040" cy="1051560"/>
          </a:xfrm>
          <a:prstGeom prst="roundRect">
            <a:avLst/>
          </a:prstGeom>
          <a:solidFill>
            <a:srgbClr val="FFEEEE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453896"/>
            <a:ext cx="54864" cy="978407"/>
          </a:xfrm>
          <a:prstGeom prst="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65376"/>
            <a:ext cx="231343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19" b="0" i="0">
                <a:solidFill>
                  <a:srgbClr val="202C39"/>
                </a:solidFill>
                <a:latin typeface="Aptos"/>
              </a:rPr>
              <a:t>Executed; actual result differed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6" y="1417320"/>
            <a:ext cx="2606040" cy="1051560"/>
          </a:xfrm>
          <a:prstGeom prst="roundRect">
            <a:avLst/>
          </a:prstGeom>
          <a:solidFill>
            <a:srgbClr val="EBF4FD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91656" y="1453896"/>
            <a:ext cx="54864" cy="978407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865376"/>
            <a:ext cx="231343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19" b="0" i="0">
                <a:solidFill>
                  <a:srgbClr val="202C39"/>
                </a:solidFill>
                <a:latin typeface="Aptos"/>
              </a:rPr>
              <a:t>Dependency/access prevented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1417320"/>
            <a:ext cx="2606040" cy="1051560"/>
          </a:xfrm>
          <a:prstGeom prst="roundRect">
            <a:avLst/>
          </a:prstGeom>
          <a:solidFill>
            <a:srgbClr val="EFF2F5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453896"/>
            <a:ext cx="54864" cy="978407"/>
          </a:xfrm>
          <a:prstGeom prst="rect">
            <a:avLst/>
          </a:prstGeom>
          <a:solidFill>
            <a:srgbClr val="5E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508760"/>
            <a:ext cx="233172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NOT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1865376"/>
            <a:ext cx="2313432" cy="548639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19" b="0" i="0">
                <a:solidFill>
                  <a:srgbClr val="202C39"/>
                </a:solidFill>
                <a:latin typeface="Aptos"/>
              </a:rPr>
              <a:t>Not executed yet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718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008376"/>
            <a:ext cx="54864" cy="157276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063240"/>
            <a:ext cx="493776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Required artifacts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419856"/>
            <a:ext cx="4919472" cy="11430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Test plan and execution matrix.
• Defect register with reproduction steps.
• Firestore/security audit and performance report.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718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008376"/>
            <a:ext cx="54864" cy="157276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063240"/>
            <a:ext cx="493776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Release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419856"/>
            <a:ext cx="4919472" cy="11430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0">
                <a:solidFill>
                  <a:srgbClr val="202C39"/>
                </a:solidFill>
                <a:latin typeface="Aptos"/>
              </a:rPr>
              <a:t>• Fix and regression-test safe defects.
• List blocked/unrun tests and residual risks.
• Verdict: PASS, CONDITIONAL PASS, or FAIL.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100" b="1" i="0">
                <a:solidFill>
                  <a:srgbClr val="BE3741"/>
                </a:solidFill>
                <a:latin typeface="Aptos"/>
              </a:rPr>
              <a:t>A successful build alone is not release sign-off. Critical security, data-integrity, or core booking defects block deployment.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500" b="1" i="0">
                <a:solidFill>
                  <a:srgbClr val="0A2647"/>
                </a:solidFill>
                <a:latin typeface="Aptos"/>
              </a:rPr>
              <a:t>Client demonstration storyline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50" b="0" i="0">
                <a:solidFill>
                  <a:srgbClr val="5E6F80"/>
                </a:solidFill>
                <a:latin typeface="Aptos"/>
              </a:rPr>
              <a:t>A concise walkthrough for clinics, operations teams, and technical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731520" cy="50292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1920240" cy="2286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50" b="1" i="0">
                <a:solidFill>
                  <a:srgbClr val="205295"/>
                </a:solidFill>
                <a:latin typeface="Aptos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750" b="1" i="0">
                <a:solidFill>
                  <a:srgbClr val="5E6F80"/>
                </a:solidFill>
                <a:latin typeface="Aptos"/>
              </a:rPr>
              <a:t>RIODENT  •  PRODUCT STRUCTURE &amp;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5E6F80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53896"/>
            <a:ext cx="54864" cy="12984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1  Doctor signs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Show authentication and role-specific home.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53896"/>
            <a:ext cx="54864" cy="129844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0876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2  Create a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6537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Choose equipment, describe issue, set address and slot.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453896"/>
            <a:ext cx="54864" cy="1298448"/>
          </a:xfrm>
          <a:prstGeom prst="rect">
            <a:avLst/>
          </a:prstGeom>
          <a:solidFill>
            <a:srgbClr val="EBA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0876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3  Admin dispatches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6537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Review queue and assign active technician.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236976"/>
            <a:ext cx="54864" cy="1298448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29184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4  Track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64845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Show status changes across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20040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236976"/>
            <a:ext cx="54864" cy="1298448"/>
          </a:xfrm>
          <a:prstGeom prst="rect">
            <a:avLst/>
          </a:prstGeom>
          <a:solidFill>
            <a:srgbClr val="20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29184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5  Complete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64845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Enter amount paid and confirm completion.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20040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3236976"/>
            <a:ext cx="54864" cy="1298448"/>
          </a:xfrm>
          <a:prstGeom prst="rect">
            <a:avLst/>
          </a:prstGeom>
          <a:solidFill>
            <a:srgbClr val="00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291840"/>
            <a:ext cx="3154680" cy="301752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300" b="1" i="0">
                <a:solidFill>
                  <a:srgbClr val="0A2647"/>
                </a:solidFill>
                <a:latin typeface="Aptos"/>
              </a:rPr>
              <a:t>6  Review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648456"/>
            <a:ext cx="3136392" cy="8686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19" b="0" i="0">
                <a:solidFill>
                  <a:srgbClr val="202C39"/>
                </a:solidFill>
                <a:latin typeface="Aptos"/>
              </a:rPr>
              <a:t>Show KPIs, roster, and auditability.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000" b="0" i="1">
                <a:solidFill>
                  <a:srgbClr val="5E6F80"/>
                </a:solidFill>
                <a:latin typeface="Aptos"/>
              </a:rPr>
              <a:t>Tie claims about latency, certification, revenue impact, and production readiness to evidence; label targets and assumptions clearly.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RioDent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9966960" cy="68580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2300" b="1" i="0">
                <a:solidFill>
                  <a:srgbClr val="E0F2FE"/>
                </a:solidFill>
                <a:latin typeface="Aptos"/>
              </a:rPr>
              <a:t>Connected dental equipment service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926080"/>
            <a:ext cx="9601200" cy="82296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Doctor booking • Technician dispatch • Admin oversight
Firebase-backed workflows • Quality and release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4572000"/>
            <a:ext cx="1874519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617720"/>
            <a:ext cx="180136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4572000"/>
            <a:ext cx="1874519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8376" y="4617720"/>
            <a:ext cx="180136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4572000"/>
            <a:ext cx="1874519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4064" y="4617720"/>
            <a:ext cx="180136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23176" y="4572000"/>
            <a:ext cx="1874519" cy="329184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4617720"/>
            <a:ext cx="1801368" cy="201168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989320"/>
            <a:ext cx="9966960" cy="27432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l"/>
            <a:r>
              <a:rPr sz="900" b="0" i="0">
                <a:solidFill>
                  <a:srgbClr val="BED2E2"/>
                </a:solidFill>
                <a:latin typeface="Aptos"/>
              </a:rPr>
              <a:t>Generated from CLIENT_PRESENTATION_AND_END_TO_END_SPEC.md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18288">
            <a:spAutoFit/>
          </a:bodyPr>
          <a:lstStyle/>
          <a:p>
            <a:pPr algn="r"/>
            <a:r>
              <a:rPr sz="800" b="1" i="0">
                <a:solidFill>
                  <a:srgbClr val="BED2E2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RioDent — End-to-End App Structure Presentation</dc:title>
  <dc:subject>Application architecture, Doctor/Admin workflows, backend, QA, security, and release</dc:subject>
  <dc:creator>OpenAI</dc:creator>
  <cp:keywords>RioDent, Flutter, Firebase, dental equipment, technician dispatch, QA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